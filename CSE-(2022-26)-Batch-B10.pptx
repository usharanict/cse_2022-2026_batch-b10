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7" r:id="rId4"/>
    <p:sldId id="259" r:id="rId5"/>
    <p:sldId id="260" r:id="rId6"/>
    <p:sldId id="261" r:id="rId7"/>
    <p:sldId id="268"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3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C0471E-91B5-4169-A7D4-5BA7F9EA22BC}" v="38" dt="2025-12-18T16:20:03.33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301" y="31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sha Rani" userId="51ef5fdf345c15b0" providerId="LiveId" clId="{4753C9CE-33BD-4C63-8DF1-0FF911C53117}"/>
    <pc:docChg chg="undo custSel modSld">
      <pc:chgData name="Usha Rani" userId="51ef5fdf345c15b0" providerId="LiveId" clId="{4753C9CE-33BD-4C63-8DF1-0FF911C53117}" dt="2025-12-18T16:22:20.286" v="429" actId="20577"/>
      <pc:docMkLst>
        <pc:docMk/>
      </pc:docMkLst>
      <pc:sldChg chg="modSp mod">
        <pc:chgData name="Usha Rani" userId="51ef5fdf345c15b0" providerId="LiveId" clId="{4753C9CE-33BD-4C63-8DF1-0FF911C53117}" dt="2025-12-18T16:22:20.286" v="429" actId="20577"/>
        <pc:sldMkLst>
          <pc:docMk/>
          <pc:sldMk cId="0" sldId="268"/>
        </pc:sldMkLst>
        <pc:grpChg chg="mod">
          <ac:chgData name="Usha Rani" userId="51ef5fdf345c15b0" providerId="LiveId" clId="{4753C9CE-33BD-4C63-8DF1-0FF911C53117}" dt="2025-12-18T16:11:44.531" v="248" actId="1076"/>
          <ac:grpSpMkLst>
            <pc:docMk/>
            <pc:sldMk cId="0" sldId="268"/>
            <ac:grpSpMk id="3" creationId="{00000000-0000-0000-0000-000000000000}"/>
          </ac:grpSpMkLst>
        </pc:grpChg>
        <pc:graphicFrameChg chg="mod modGraphic">
          <ac:chgData name="Usha Rani" userId="51ef5fdf345c15b0" providerId="LiveId" clId="{4753C9CE-33BD-4C63-8DF1-0FF911C53117}" dt="2025-12-18T16:22:20.286" v="429" actId="20577"/>
          <ac:graphicFrameMkLst>
            <pc:docMk/>
            <pc:sldMk cId="0" sldId="268"/>
            <ac:graphicFrameMk id="7"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7203DB1-22C9-4328-8E0B-13A98EA180CE}" type="datetimeFigureOut">
              <a:rPr lang="en-IN" smtClean="0"/>
              <a:t>18-12-2025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3C257F-7C75-44DD-AC1C-7150640DC7DB}" type="slidenum">
              <a:rPr lang="en-IN" smtClean="0"/>
              <a:t>‹#›</a:t>
            </a:fld>
            <a:endParaRPr lang="en-IN"/>
          </a:p>
        </p:txBody>
      </p:sp>
    </p:spTree>
    <p:extLst>
      <p:ext uri="{BB962C8B-B14F-4D97-AF65-F5344CB8AC3E}">
        <p14:creationId xmlns:p14="http://schemas.microsoft.com/office/powerpoint/2010/main" val="137996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5B66991-F725-422B-A7F0-F43E86186675}" type="slidenum">
              <a:rPr lang="en-IN" smtClean="0"/>
              <a:t>7</a:t>
            </a:fld>
            <a:endParaRPr lang="en-IN"/>
          </a:p>
        </p:txBody>
      </p:sp>
    </p:spTree>
    <p:extLst>
      <p:ext uri="{BB962C8B-B14F-4D97-AF65-F5344CB8AC3E}">
        <p14:creationId xmlns:p14="http://schemas.microsoft.com/office/powerpoint/2010/main" val="754176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usharaniCT/CSE_2022-2026_BATCH-B10" TargetMode="External"/><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60"/>
            <a:chOff x="777240" y="6634440"/>
            <a:chExt cx="11414760" cy="22356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r>
                <a:rPr lang="en-US" sz="1600" cap="small" spc="-75" dirty="0">
                  <a:solidFill>
                    <a:srgbClr val="FFF3F3"/>
                  </a:solidFill>
                  <a:latin typeface="Times New Roman" panose="02020603050405020304" pitchFamily="18" charset="0"/>
                  <a:cs typeface="Times New Roman" panose="02020603050405020304" pitchFamily="18" charset="0"/>
                </a:rPr>
                <a:t>           Dept.</a:t>
              </a:r>
              <a:r>
                <a:rPr lang="en-US" sz="1600" cap="small" spc="-10" dirty="0">
                  <a:solidFill>
                    <a:srgbClr val="FFF3F3"/>
                  </a:solidFill>
                  <a:latin typeface="Times New Roman" panose="02020603050405020304" pitchFamily="18" charset="0"/>
                  <a:cs typeface="Times New Roman" panose="02020603050405020304" pitchFamily="18" charset="0"/>
                </a:rPr>
                <a:t> </a:t>
              </a:r>
              <a:r>
                <a:rPr lang="en-US" sz="1600" cap="small" spc="-100" dirty="0">
                  <a:solidFill>
                    <a:srgbClr val="FFF3F3"/>
                  </a:solidFill>
                  <a:latin typeface="Times New Roman" panose="02020603050405020304" pitchFamily="18" charset="0"/>
                  <a:cs typeface="Times New Roman" panose="02020603050405020304" pitchFamily="18" charset="0"/>
                </a:rPr>
                <a:t>of</a:t>
              </a:r>
              <a:r>
                <a:rPr lang="en-US" sz="1600" cap="small" spc="50" dirty="0">
                  <a:solidFill>
                    <a:srgbClr val="FFF3F3"/>
                  </a:solidFill>
                  <a:latin typeface="Times New Roman" panose="02020603050405020304" pitchFamily="18" charset="0"/>
                  <a:cs typeface="Times New Roman" panose="02020603050405020304" pitchFamily="18" charset="0"/>
                </a:rPr>
                <a:t> </a:t>
              </a:r>
              <a:r>
                <a:rPr lang="en-US" sz="1600" cap="small" spc="-114" dirty="0">
                  <a:solidFill>
                    <a:srgbClr val="FFF3F3"/>
                  </a:solidFill>
                  <a:latin typeface="Times New Roman" panose="02020603050405020304" pitchFamily="18" charset="0"/>
                  <a:cs typeface="Times New Roman" panose="02020603050405020304" pitchFamily="18" charset="0"/>
                </a:rPr>
                <a:t>Computer</a:t>
              </a:r>
              <a:r>
                <a:rPr lang="en-US" sz="1600" cap="small" spc="60" dirty="0">
                  <a:solidFill>
                    <a:srgbClr val="FFF3F3"/>
                  </a:solidFill>
                  <a:latin typeface="Times New Roman" panose="02020603050405020304" pitchFamily="18" charset="0"/>
                  <a:cs typeface="Times New Roman" panose="02020603050405020304" pitchFamily="18" charset="0"/>
                </a:rPr>
                <a:t> </a:t>
              </a:r>
              <a:r>
                <a:rPr lang="en-US" sz="1600" cap="small" spc="-95" dirty="0">
                  <a:solidFill>
                    <a:srgbClr val="FFF3F3"/>
                  </a:solidFill>
                  <a:latin typeface="Times New Roman" panose="02020603050405020304" pitchFamily="18" charset="0"/>
                  <a:cs typeface="Times New Roman" panose="02020603050405020304" pitchFamily="18" charset="0"/>
                </a:rPr>
                <a:t>Science</a:t>
              </a:r>
              <a:r>
                <a:rPr lang="en-US" sz="1600" cap="small" spc="55" dirty="0">
                  <a:solidFill>
                    <a:srgbClr val="FFF3F3"/>
                  </a:solidFill>
                  <a:latin typeface="Times New Roman" panose="02020603050405020304" pitchFamily="18" charset="0"/>
                  <a:cs typeface="Times New Roman" panose="02020603050405020304" pitchFamily="18" charset="0"/>
                </a:rPr>
                <a:t> </a:t>
              </a:r>
              <a:r>
                <a:rPr lang="en-US" sz="1600" cap="small" spc="-130" dirty="0">
                  <a:solidFill>
                    <a:srgbClr val="FFF3F3"/>
                  </a:solidFill>
                  <a:latin typeface="Times New Roman" panose="02020603050405020304" pitchFamily="18" charset="0"/>
                  <a:cs typeface="Times New Roman" panose="02020603050405020304" pitchFamily="18" charset="0"/>
                </a:rPr>
                <a:t>and Engineering</a:t>
              </a:r>
              <a:r>
                <a:rPr lang="en-US" sz="1600" cap="small" spc="55" dirty="0">
                  <a:solidFill>
                    <a:srgbClr val="FFF3F3"/>
                  </a:solidFill>
                  <a:latin typeface="Times New Roman" panose="02020603050405020304" pitchFamily="18" charset="0"/>
                  <a:cs typeface="Times New Roman" panose="02020603050405020304" pitchFamily="18" charset="0"/>
                </a:rPr>
                <a:t> </a:t>
              </a:r>
              <a:endParaRPr lang="en-US" sz="1600" cap="small" spc="-130" dirty="0">
                <a:solidFill>
                  <a:srgbClr val="FFF3F3"/>
                </a:solidFill>
                <a:latin typeface="Times New Roman" panose="02020603050405020304" pitchFamily="18" charset="0"/>
                <a:cs typeface="Times New Roman" panose="02020603050405020304" pitchFamily="18" charset="0"/>
              </a:endParaRPr>
            </a:p>
            <a:p>
              <a:r>
                <a:rPr lang="en-IN" dirty="0"/>
                <a:t> </a:t>
              </a:r>
              <a:endParaRPr dirty="0"/>
            </a:p>
          </p:txBody>
        </p:sp>
        <p:sp>
          <p:nvSpPr>
            <p:cNvPr id="4" name="object 4"/>
            <p:cNvSpPr/>
            <p:nvPr/>
          </p:nvSpPr>
          <p:spPr>
            <a:xfrm>
              <a:off x="6558915" y="6641230"/>
              <a:ext cx="5189486" cy="207398"/>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r>
                <a:rPr lang="en-IN" sz="1800" cap="small" spc="-105" dirty="0">
                  <a:solidFill>
                    <a:srgbClr val="FFFFFF"/>
                  </a:solidFill>
                  <a:latin typeface="Times New Roman"/>
                  <a:cs typeface="Times New Roman"/>
                </a:rPr>
                <a:t>         </a:t>
              </a:r>
              <a:r>
                <a:rPr lang="en-US" sz="1600" cap="small" spc="-105" dirty="0">
                  <a:solidFill>
                    <a:srgbClr val="FFFFFF"/>
                  </a:solidFill>
                  <a:latin typeface="Times New Roman"/>
                  <a:cs typeface="Times New Roman"/>
                </a:rPr>
                <a:t>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 Technology</a:t>
              </a:r>
              <a:endParaRPr lang="en-US" sz="1600" dirty="0">
                <a:latin typeface="Times New Roman"/>
                <a:cs typeface="Times New Roman"/>
              </a:endParaRPr>
            </a:p>
            <a:p>
              <a:endParaRPr dirty="0"/>
            </a:p>
          </p:txBody>
        </p:sp>
        <p:sp>
          <p:nvSpPr>
            <p:cNvPr id="5" name="object 5"/>
            <p:cNvSpPr/>
            <p:nvPr/>
          </p:nvSpPr>
          <p:spPr>
            <a:xfrm>
              <a:off x="11754485" y="6637021"/>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r>
                <a:rPr lang="en-IN" dirty="0"/>
                <a:t>  </a:t>
              </a: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1</a:t>
              </a:r>
              <a:endParaRPr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IN" sz="1400" dirty="0">
                <a:latin typeface="Times New Roman" panose="02020603050405020304" pitchFamily="18" charset="0"/>
                <a:cs typeface="Times New Roman" panose="02020603050405020304" pitchFamily="18" charset="0"/>
              </a:rPr>
              <a:t>    </a:t>
            </a:r>
            <a:r>
              <a:rPr lang="en-IN" sz="1600" dirty="0">
                <a:solidFill>
                  <a:srgbClr val="FFFFFF"/>
                </a:solidFill>
                <a:latin typeface="Times New Roman" panose="02020603050405020304" pitchFamily="18" charset="0"/>
                <a:cs typeface="Times New Roman" panose="02020603050405020304" pitchFamily="18" charset="0"/>
              </a:rPr>
              <a:t>B-10</a:t>
            </a:r>
            <a:endParaRPr sz="1600" dirty="0">
              <a:solidFill>
                <a:srgbClr val="FFFFFF"/>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4876800" y="1735293"/>
            <a:ext cx="2362200" cy="415627"/>
          </a:xfrm>
          <a:prstGeom prst="rect">
            <a:avLst/>
          </a:prstGeom>
        </p:spPr>
        <p:txBody>
          <a:bodyPr vert="horz" wrap="square" lIns="0" tIns="13335" rIns="0" bIns="0" rtlCol="0">
            <a:spAutoFit/>
          </a:bodyPr>
          <a:lstStyle/>
          <a:p>
            <a:pPr algn="ctr">
              <a:lnSpc>
                <a:spcPts val="2080"/>
              </a:lnSpc>
              <a:spcBef>
                <a:spcPts val="105"/>
              </a:spcBef>
            </a:pPr>
            <a:r>
              <a:rPr lang="en-IN" sz="1600" dirty="0"/>
              <a:t>K .P. NARESH</a:t>
            </a:r>
            <a:endParaRPr lang="en-IN" sz="175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234G5A0508</a:t>
            </a:r>
            <a:endParaRPr sz="900" dirty="0">
              <a:latin typeface="Times New Roman"/>
              <a:cs typeface="Times New Roman"/>
            </a:endParaRPr>
          </a:p>
        </p:txBody>
      </p:sp>
      <p:sp>
        <p:nvSpPr>
          <p:cNvPr id="9" name="object 9"/>
          <p:cNvSpPr txBox="1"/>
          <p:nvPr/>
        </p:nvSpPr>
        <p:spPr>
          <a:xfrm>
            <a:off x="3733800" y="2476799"/>
            <a:ext cx="4724400" cy="1320874"/>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IN" sz="2400" dirty="0"/>
              <a:t>Mr. G. Chinna Pullaiah </a:t>
            </a:r>
            <a:r>
              <a:rPr sz="2400" spc="-10" dirty="0">
                <a:latin typeface="Times New Roman"/>
                <a:cs typeface="Times New Roman"/>
              </a:rPr>
              <a:t>,</a:t>
            </a:r>
            <a:r>
              <a:rPr lang="en-IN" sz="2400" spc="-10" dirty="0">
                <a:latin typeface="Times New Roman"/>
                <a:cs typeface="Times New Roman"/>
              </a:rPr>
              <a:t> </a:t>
            </a:r>
            <a:r>
              <a:rPr lang="en-IN" sz="1400" spc="-10" dirty="0" err="1">
                <a:latin typeface="Times New Roman"/>
                <a:cs typeface="Times New Roman"/>
              </a:rPr>
              <a:t>M.Tech</a:t>
            </a:r>
            <a:r>
              <a:rPr lang="en-IN" sz="1400" spc="-10" dirty="0">
                <a:latin typeface="Times New Roman"/>
                <a:cs typeface="Times New Roman"/>
              </a:rPr>
              <a:t>., (Ph.D.)</a:t>
            </a:r>
            <a:r>
              <a:rPr sz="1400" spc="-10" dirty="0">
                <a:latin typeface="Times New Roman"/>
                <a:cs typeface="Times New Roman"/>
              </a:rPr>
              <a:t> </a:t>
            </a:r>
            <a:endParaRPr lang="en-IN" sz="1400" spc="-10" dirty="0">
              <a:latin typeface="Times New Roman"/>
              <a:cs typeface="Times New Roman"/>
            </a:endParaRPr>
          </a:p>
          <a:p>
            <a:pPr marL="12065" marR="5080" algn="ctr">
              <a:lnSpc>
                <a:spcPts val="2790"/>
              </a:lnSpc>
              <a:spcBef>
                <a:spcPts val="114"/>
              </a:spcBef>
            </a:pPr>
            <a:r>
              <a:rPr lang="en-IN" sz="1400" spc="-20" dirty="0">
                <a:latin typeface="Times New Roman"/>
                <a:cs typeface="Times New Roman"/>
              </a:rPr>
              <a:t>Assistant</a:t>
            </a:r>
            <a:r>
              <a:rPr lang="en-IN" sz="1400" spc="-40" dirty="0">
                <a:latin typeface="Times New Roman"/>
                <a:cs typeface="Times New Roman"/>
              </a:rPr>
              <a:t> </a:t>
            </a: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1447800" y="1724463"/>
            <a:ext cx="2624412" cy="455381"/>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C.T.USHA RANI</a:t>
            </a:r>
            <a:endParaRPr sz="2000" dirty="0">
              <a:latin typeface="Times New Roman"/>
              <a:cs typeface="Times New Roman"/>
            </a:endParaRPr>
          </a:p>
          <a:p>
            <a:pPr marL="1270" algn="ctr">
              <a:lnSpc>
                <a:spcPts val="1060"/>
              </a:lnSpc>
            </a:pPr>
            <a:r>
              <a:rPr sz="900" dirty="0">
                <a:latin typeface="Times New Roman"/>
                <a:cs typeface="Times New Roman"/>
              </a:rPr>
              <a:t>Roll</a:t>
            </a:r>
            <a:r>
              <a:rPr sz="900" spc="40" dirty="0">
                <a:latin typeface="Times New Roman"/>
                <a:cs typeface="Times New Roman"/>
              </a:rPr>
              <a:t> </a:t>
            </a:r>
            <a:r>
              <a:rPr sz="900" dirty="0">
                <a:latin typeface="Times New Roman"/>
                <a:cs typeface="Times New Roman"/>
              </a:rPr>
              <a:t>No.</a:t>
            </a:r>
            <a:r>
              <a:rPr sz="900" spc="40" dirty="0">
                <a:latin typeface="Times New Roman"/>
                <a:cs typeface="Times New Roman"/>
              </a:rPr>
              <a:t> </a:t>
            </a:r>
            <a:r>
              <a:rPr lang="en-IN" sz="900" spc="-10" dirty="0">
                <a:latin typeface="Times New Roman"/>
                <a:cs typeface="Times New Roman"/>
              </a:rPr>
              <a:t>224G1A05B5</a:t>
            </a:r>
            <a:endParaRPr sz="900" dirty="0">
              <a:latin typeface="Times New Roman"/>
              <a:cs typeface="Times New Roman"/>
            </a:endParaRPr>
          </a:p>
        </p:txBody>
      </p:sp>
      <p:sp>
        <p:nvSpPr>
          <p:cNvPr id="12" name="object 12"/>
          <p:cNvSpPr txBox="1"/>
          <p:nvPr/>
        </p:nvSpPr>
        <p:spPr>
          <a:xfrm>
            <a:off x="8000999" y="1735293"/>
            <a:ext cx="2819401" cy="431528"/>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a:t>
            </a:r>
            <a:r>
              <a:rPr lang="en-IN" dirty="0"/>
              <a:t>N .PRASHANTHI</a:t>
            </a:r>
            <a:endParaRPr lang="en-IN" sz="18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224G1A0574</a:t>
            </a:r>
            <a:endParaRPr sz="900" dirty="0">
              <a:latin typeface="Times New Roman"/>
              <a:cs typeface="Times New Roman"/>
            </a:endParaRPr>
          </a:p>
        </p:txBody>
      </p:sp>
      <p:grpSp>
        <p:nvGrpSpPr>
          <p:cNvPr id="14" name="object 14"/>
          <p:cNvGrpSpPr/>
          <p:nvPr/>
        </p:nvGrpSpPr>
        <p:grpSpPr>
          <a:xfrm>
            <a:off x="473895" y="296792"/>
            <a:ext cx="11353800" cy="1033076"/>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635715" y="294211"/>
            <a:ext cx="11082390" cy="997709"/>
          </a:xfrm>
          <a:prstGeom prst="rect">
            <a:avLst/>
          </a:prstGeom>
        </p:spPr>
        <p:txBody>
          <a:bodyPr vert="horz" wrap="square" lIns="0" tIns="12700" rIns="0" bIns="0" rtlCol="0">
            <a:spAutoFit/>
          </a:bodyPr>
          <a:lstStyle/>
          <a:p>
            <a:pPr marL="12700" algn="ctr">
              <a:lnSpc>
                <a:spcPct val="100000"/>
              </a:lnSpc>
              <a:spcBef>
                <a:spcPts val="100"/>
              </a:spcBef>
            </a:pPr>
            <a:r>
              <a:rPr lang="en-US" sz="3200" dirty="0"/>
              <a:t>INSECT DAMAGE DETECTION IN HOUSEHOLD SURFACES   USING AI-BASED IMAGE PROCESSING</a:t>
            </a:r>
            <a:endParaRPr sz="3200" dirty="0"/>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408075"/>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37609" y="-24107"/>
            <a:ext cx="9645355" cy="259045"/>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a:t>
            </a:r>
            <a:r>
              <a:rPr lang="en-US" sz="1600" b="1" i="1" dirty="0">
                <a:solidFill>
                  <a:srgbClr val="FFFFFF"/>
                </a:solidFill>
                <a:latin typeface="Times New Roman"/>
                <a:cs typeface="Times New Roman"/>
              </a:rPr>
              <a:t>Insect Damage Detection in Household Surfaces Using AI-Based Image Processing </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9" name="object 9"/>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CF65-8104-2EC4-946A-ADD934F86C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5A89D4-52AC-1D8D-E2E4-9A84CD4CD896}"/>
              </a:ext>
            </a:extLst>
          </p:cNvPr>
          <p:cNvSpPr txBox="1"/>
          <p:nvPr/>
        </p:nvSpPr>
        <p:spPr>
          <a:xfrm>
            <a:off x="2885106" y="-16448"/>
            <a:ext cx="6248400" cy="228268"/>
          </a:xfrm>
          <a:prstGeom prst="rect">
            <a:avLst/>
          </a:prstGeom>
        </p:spPr>
        <p:txBody>
          <a:bodyPr vert="horz" wrap="square" lIns="0" tIns="12700" rIns="0" bIns="0" rtlCol="0">
            <a:spAutoFit/>
          </a:bodyPr>
          <a:lstStyle/>
          <a:p>
            <a:pPr marL="12700">
              <a:lnSpc>
                <a:spcPct val="100000"/>
              </a:lnSpc>
              <a:spcBef>
                <a:spcPts val="100"/>
              </a:spcBef>
            </a:pPr>
            <a:r>
              <a:rPr lang="en-US" sz="1400" b="1" i="1">
                <a:solidFill>
                  <a:srgbClr val="FFFFFF"/>
                </a:solidFill>
                <a:latin typeface="Times New Roman"/>
                <a:cs typeface="Times New Roman"/>
              </a:rPr>
              <a:t>Insect Damage Detection in Household Surfaces Using AI-Based Image Processing</a:t>
            </a:r>
            <a:endParaRPr sz="1500" dirty="0">
              <a:latin typeface="Times New Roman"/>
              <a:cs typeface="Times New Roman"/>
            </a:endParaRPr>
          </a:p>
        </p:txBody>
      </p:sp>
      <p:grpSp>
        <p:nvGrpSpPr>
          <p:cNvPr id="3" name="object 3">
            <a:extLst>
              <a:ext uri="{FF2B5EF4-FFF2-40B4-BE49-F238E27FC236}">
                <a16:creationId xmlns:a16="http://schemas.microsoft.com/office/drawing/2014/main" id="{7884F3D6-9C18-D97C-621E-0AC6E9C7CCFE}"/>
              </a:ext>
            </a:extLst>
          </p:cNvPr>
          <p:cNvGrpSpPr/>
          <p:nvPr/>
        </p:nvGrpSpPr>
        <p:grpSpPr>
          <a:xfrm>
            <a:off x="0" y="212399"/>
            <a:ext cx="12192000" cy="803275"/>
            <a:chOff x="0" y="212399"/>
            <a:chExt cx="12192000" cy="803275"/>
          </a:xfrm>
        </p:grpSpPr>
        <p:pic>
          <p:nvPicPr>
            <p:cNvPr id="4" name="object 4">
              <a:extLst>
                <a:ext uri="{FF2B5EF4-FFF2-40B4-BE49-F238E27FC236}">
                  <a16:creationId xmlns:a16="http://schemas.microsoft.com/office/drawing/2014/main" id="{BC294CF2-BB5A-8C4B-077C-8C2B04D31618}"/>
                </a:ext>
              </a:extLst>
            </p:cNvPr>
            <p:cNvPicPr/>
            <p:nvPr/>
          </p:nvPicPr>
          <p:blipFill>
            <a:blip r:embed="rId2" cstate="print"/>
            <a:stretch>
              <a:fillRect/>
            </a:stretch>
          </p:blipFill>
          <p:spPr>
            <a:xfrm>
              <a:off x="0" y="212399"/>
              <a:ext cx="12192000" cy="803160"/>
            </a:xfrm>
            <a:prstGeom prst="rect">
              <a:avLst/>
            </a:prstGeom>
          </p:spPr>
        </p:pic>
        <p:sp>
          <p:nvSpPr>
            <p:cNvPr id="5" name="object 5">
              <a:extLst>
                <a:ext uri="{FF2B5EF4-FFF2-40B4-BE49-F238E27FC236}">
                  <a16:creationId xmlns:a16="http://schemas.microsoft.com/office/drawing/2014/main" id="{A8FB50D9-09DF-4A9C-DD93-DEAAC370112A}"/>
                </a:ext>
              </a:extLst>
            </p:cNvPr>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0A72AA6-7D3D-A8DD-3595-6DEAF17E897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IN" dirty="0"/>
              <a:t>Title</a:t>
            </a:r>
            <a:r>
              <a:rPr lang="en-IN" spc="-110" dirty="0"/>
              <a:t> </a:t>
            </a:r>
            <a:r>
              <a:rPr lang="en-IN" spc="-10" dirty="0"/>
              <a:t>Justification</a:t>
            </a:r>
            <a:endParaRPr spc="-10" dirty="0"/>
          </a:p>
        </p:txBody>
      </p:sp>
      <p:sp>
        <p:nvSpPr>
          <p:cNvPr id="8" name="object 8">
            <a:extLst>
              <a:ext uri="{FF2B5EF4-FFF2-40B4-BE49-F238E27FC236}">
                <a16:creationId xmlns:a16="http://schemas.microsoft.com/office/drawing/2014/main" id="{56137B2E-7C8B-3EB4-8089-ECC7E3119089}"/>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9" name="object 9">
            <a:extLst>
              <a:ext uri="{FF2B5EF4-FFF2-40B4-BE49-F238E27FC236}">
                <a16:creationId xmlns:a16="http://schemas.microsoft.com/office/drawing/2014/main" id="{6BA1E2F7-A53E-88DE-1605-D6FF9E9C6857}"/>
              </a:ext>
            </a:extLst>
          </p:cNvPr>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a:extLst>
              <a:ext uri="{FF2B5EF4-FFF2-40B4-BE49-F238E27FC236}">
                <a16:creationId xmlns:a16="http://schemas.microsoft.com/office/drawing/2014/main" id="{799D763F-4E25-4B32-CA49-8BF68AD47EC1}"/>
              </a:ext>
            </a:extLst>
          </p:cNvPr>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B8FD2B94-5F8B-DCE9-780E-CE375CB034A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7" name="object 7">
            <a:extLst>
              <a:ext uri="{FF2B5EF4-FFF2-40B4-BE49-F238E27FC236}">
                <a16:creationId xmlns:a16="http://schemas.microsoft.com/office/drawing/2014/main" id="{E5134579-8FEB-42B0-95A3-CC6AD188EAD1}"/>
              </a:ext>
            </a:extLst>
          </p:cNvPr>
          <p:cNvSpPr txBox="1"/>
          <p:nvPr/>
        </p:nvSpPr>
        <p:spPr>
          <a:xfrm>
            <a:off x="381000" y="1035803"/>
            <a:ext cx="11256613" cy="4463081"/>
          </a:xfrm>
          <a:prstGeom prst="rect">
            <a:avLst/>
          </a:prstGeom>
        </p:spPr>
        <p:txBody>
          <a:bodyPr vert="horz" wrap="square" lIns="0" tIns="96520" rIns="0" bIns="0" rtlCol="0">
            <a:spAutoFit/>
          </a:bodyPr>
          <a:lstStyle/>
          <a:p>
            <a:pPr algn="just">
              <a:lnSpc>
                <a:spcPct val="150000"/>
              </a:lnSpc>
            </a:pPr>
            <a:r>
              <a:rPr lang="en-US" sz="2400" dirty="0"/>
              <a:t>    </a:t>
            </a:r>
            <a:r>
              <a:rPr lang="en-US" sz="2400" dirty="0">
                <a:latin typeface="Times New Roman" panose="02020603050405020304" pitchFamily="18" charset="0"/>
                <a:cs typeface="Times New Roman" panose="02020603050405020304" pitchFamily="18" charset="0"/>
              </a:rPr>
              <a:t>The title </a:t>
            </a:r>
            <a:r>
              <a:rPr lang="en-US" sz="2400" b="1" dirty="0">
                <a:latin typeface="Times New Roman" panose="02020603050405020304" pitchFamily="18" charset="0"/>
                <a:cs typeface="Times New Roman" panose="02020603050405020304" pitchFamily="18" charset="0"/>
              </a:rPr>
              <a:t>“Insect Damage Detection in Household Surfaces Using AI-Based Image Processing”</a:t>
            </a:r>
            <a:r>
              <a:rPr lang="en-US" sz="2400" dirty="0">
                <a:latin typeface="Times New Roman" panose="02020603050405020304" pitchFamily="18" charset="0"/>
                <a:cs typeface="Times New Roman" panose="02020603050405020304" pitchFamily="18" charset="0"/>
              </a:rPr>
              <a:t> is suitable because the project aims to detect insect-induced damage not only on wooden surfaces but also on walls and soil areas within a household environment. Since the system uses artificial intelligence and image processing to identify holes, cracks, discoloration, powder formation, and other damage patterns, the title clearly reflects the technological approach and the wide range of surfaces analyzed. The inclusion of “AI-Based Image Processing” highlights the accuracy, automation, and smart nature of the solution, making the title fully aligned with the project’s objectives and methodology.</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04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04306" y="-21691"/>
            <a:ext cx="6559991" cy="228268"/>
          </a:xfrm>
          <a:prstGeom prst="rect">
            <a:avLst/>
          </a:prstGeom>
        </p:spPr>
        <p:txBody>
          <a:bodyPr vert="horz" wrap="square" lIns="0" tIns="12700" rIns="0" bIns="0" rtlCol="0">
            <a:spAutoFit/>
          </a:bodyPr>
          <a:lstStyle/>
          <a:p>
            <a:pPr marL="12700">
              <a:lnSpc>
                <a:spcPct val="100000"/>
              </a:lnSpc>
              <a:spcBef>
                <a:spcPts val="100"/>
              </a:spcBef>
            </a:pPr>
            <a:r>
              <a:rPr lang="en-US" sz="1400" b="1" i="1" dirty="0">
                <a:solidFill>
                  <a:srgbClr val="FFFFFF"/>
                </a:solidFill>
                <a:latin typeface="Times New Roman"/>
                <a:cs typeface="Times New Roman"/>
              </a:rPr>
              <a:t> Insect Damage Detection in Household Surfaces Using AI-Based Image Processing </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9030" y="209958"/>
            <a:ext cx="6559991" cy="689932"/>
          </a:xfrm>
          <a:prstGeom prst="rect">
            <a:avLst/>
          </a:prstGeom>
        </p:spPr>
        <p:txBody>
          <a:bodyPr vert="horz" wrap="square" lIns="0" tIns="12700" rIns="0" bIns="0" rtlCol="0">
            <a:spAutoFit/>
          </a:bodyPr>
          <a:lstStyle/>
          <a:p>
            <a:pPr marL="12700">
              <a:lnSpc>
                <a:spcPct val="100000"/>
              </a:lnSpc>
              <a:spcBef>
                <a:spcPts val="100"/>
              </a:spcBef>
            </a:pPr>
            <a:r>
              <a:rPr lang="en-IN" sz="2800" spc="-10" dirty="0"/>
              <a:t> </a:t>
            </a:r>
            <a:r>
              <a:rPr spc="-10" dirty="0"/>
              <a:t>Abstract</a:t>
            </a: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9" name="object 9"/>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7" name="object 7"/>
          <p:cNvSpPr txBox="1"/>
          <p:nvPr/>
        </p:nvSpPr>
        <p:spPr>
          <a:xfrm>
            <a:off x="246999" y="993627"/>
            <a:ext cx="11623675" cy="4377802"/>
          </a:xfrm>
          <a:prstGeom prst="rect">
            <a:avLst/>
          </a:prstGeom>
        </p:spPr>
        <p:txBody>
          <a:bodyPr vert="horz" wrap="square" lIns="0" tIns="12065" rIns="0" bIns="0" rtlCol="0">
            <a:spAutoFit/>
          </a:bodyPr>
          <a:lstStyle/>
          <a:p>
            <a:pPr algn="just">
              <a:lnSpc>
                <a:spcPct val="150000"/>
              </a:lnSpc>
            </a:pPr>
            <a:r>
              <a:rPr lang="en-US" sz="2400" dirty="0"/>
              <a:t>       </a:t>
            </a:r>
            <a:r>
              <a:rPr lang="en-US" sz="2400" dirty="0">
                <a:latin typeface="Times New Roman" panose="02020603050405020304" pitchFamily="18" charset="0"/>
                <a:cs typeface="Times New Roman" panose="02020603050405020304" pitchFamily="18" charset="0"/>
              </a:rPr>
              <a:t>This project introduces an AI-based Image Processing System designed to automatically detect insect-induced damage on wooden household surfaces, walls, and soil areas. The system identifies patterns such as holes, cracks, discoloration, powder formation, and soil disturbances using advanced image processing and machine-learning techniques. It also provides precautionary measures, treatment suggestions, and sends detailed insect-related information to the user via email. By automating inspection, the system improves accuracy, reduces human error, and enables early detection before major structural damage occurs. Overall, the project enhances home safety, reduces maintenance cost, and supports smart household 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71800" y="0"/>
            <a:ext cx="6705600" cy="228268"/>
          </a:xfrm>
          <a:prstGeom prst="rect">
            <a:avLst/>
          </a:prstGeom>
        </p:spPr>
        <p:txBody>
          <a:bodyPr vert="horz" wrap="square" lIns="0" tIns="12700" rIns="0" bIns="0" rtlCol="0">
            <a:spAutoFit/>
          </a:bodyPr>
          <a:lstStyle/>
          <a:p>
            <a:pPr marL="12700">
              <a:lnSpc>
                <a:spcPct val="100000"/>
              </a:lnSpc>
              <a:spcBef>
                <a:spcPts val="100"/>
              </a:spcBef>
            </a:pPr>
            <a:r>
              <a:rPr lang="en-US" sz="1400" b="1" i="1" dirty="0">
                <a:solidFill>
                  <a:srgbClr val="FFFFFF"/>
                </a:solidFill>
                <a:latin typeface="Times New Roman"/>
                <a:cs typeface="Times New Roman"/>
              </a:rPr>
              <a:t>Insect Damage Detection in Household Surfaces Using AI-Based Image Processing</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9" name="object 9"/>
          <p:cNvSpPr txBox="1">
            <a:spLocks noGrp="1"/>
          </p:cNvSpPr>
          <p:nvPr>
            <p:ph type="dt" sz="half" idx="6"/>
          </p:nvPr>
        </p:nvSpPr>
        <p:spPr>
          <a:xfrm>
            <a:off x="1262974" y="6629197"/>
            <a:ext cx="4071026" cy="228803"/>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5600" y="6607175"/>
            <a:ext cx="4223426"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7" name="object 7"/>
          <p:cNvSpPr txBox="1">
            <a:spLocks noGrp="1"/>
          </p:cNvSpPr>
          <p:nvPr>
            <p:ph type="body" idx="1"/>
          </p:nvPr>
        </p:nvSpPr>
        <p:spPr>
          <a:xfrm>
            <a:off x="304800" y="1048370"/>
            <a:ext cx="11346815" cy="4427174"/>
          </a:xfrm>
          <a:prstGeom prst="rect">
            <a:avLst/>
          </a:prstGeom>
        </p:spPr>
        <p:txBody>
          <a:bodyPr vert="horz" wrap="square" lIns="0" tIns="60960" rIns="0" bIns="0" rtlCol="0">
            <a:spAutoFit/>
          </a:bodyPr>
          <a:lstStyle/>
          <a:p>
            <a:pPr algn="just">
              <a:lnSpc>
                <a:spcPct val="150000"/>
              </a:lnSpc>
            </a:pPr>
            <a:r>
              <a:rPr lang="en-US" sz="2400" dirty="0"/>
              <a:t>    Insect damage inside households often begins in hidden or small areas of wooden surfaces, walls, and soil. Early signs such as micro-holes, discoloration, or powder formation are difficult to detect manually. Traditional inspection methods are slow, inaccurate, and heavily dependent on human observation, leading to unnoticed infestation and severe structural deterioration. People face challenges in identifying the type of insect, understanding risks, or knowing the required precautions. A digital, automated, and intelligent system is required to detect early-stage insect activity, classify damage, and provide users with detailed guidance and preventive information.</a:t>
            </a:r>
            <a:endParaRPr sz="2400"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24200" y="-19648"/>
            <a:ext cx="7543800" cy="228268"/>
          </a:xfrm>
          <a:prstGeom prst="rect">
            <a:avLst/>
          </a:prstGeom>
        </p:spPr>
        <p:txBody>
          <a:bodyPr vert="horz" wrap="square" lIns="0" tIns="12700" rIns="0" bIns="0" rtlCol="0">
            <a:spAutoFit/>
          </a:bodyPr>
          <a:lstStyle/>
          <a:p>
            <a:pPr marL="12700">
              <a:lnSpc>
                <a:spcPct val="100000"/>
              </a:lnSpc>
              <a:spcBef>
                <a:spcPts val="100"/>
              </a:spcBef>
            </a:pPr>
            <a:r>
              <a:rPr lang="en-US" sz="1400" b="1" i="1" dirty="0">
                <a:solidFill>
                  <a:srgbClr val="FFFFFF"/>
                </a:solidFill>
                <a:latin typeface="Times New Roman"/>
                <a:cs typeface="Times New Roman"/>
              </a:rPr>
              <a:t>Insect Damage Detection in Household Surfaces Using AI-Based Image Processing </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7" name="object 7"/>
          <p:cNvSpPr txBox="1"/>
          <p:nvPr/>
        </p:nvSpPr>
        <p:spPr>
          <a:xfrm>
            <a:off x="272465" y="1110318"/>
            <a:ext cx="11619230" cy="4378058"/>
          </a:xfrm>
          <a:prstGeom prst="rect">
            <a:avLst/>
          </a:prstGeom>
        </p:spPr>
        <p:txBody>
          <a:bodyPr vert="horz" wrap="square" lIns="0" tIns="12700" rIns="0" bIns="0"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Objective 1:</a:t>
            </a:r>
          </a:p>
          <a:p>
            <a:pPr algn="just">
              <a:lnSpc>
                <a:spcPct val="150000"/>
              </a:lnSpc>
            </a:pPr>
            <a:r>
              <a:rPr lang="en-US" sz="2400" dirty="0"/>
              <a:t>    </a:t>
            </a:r>
            <a:r>
              <a:rPr lang="en-US" sz="2400" dirty="0">
                <a:latin typeface="Times New Roman" panose="02020603050405020304" pitchFamily="18" charset="0"/>
                <a:cs typeface="Times New Roman" panose="02020603050405020304" pitchFamily="18" charset="0"/>
              </a:rPr>
              <a:t>To develop an AI-based image processing system that detects insect-induced damage on household wooden surfaces, walls, and soil, and classifies the severity and type of damage with high accuracy.</a:t>
            </a:r>
          </a:p>
          <a:p>
            <a:pPr algn="just">
              <a:lnSpc>
                <a:spcPct val="150000"/>
              </a:lnSpc>
            </a:pPr>
            <a:r>
              <a:rPr lang="en-US" sz="2400" b="1" dirty="0">
                <a:latin typeface="Times New Roman" panose="02020603050405020304" pitchFamily="18" charset="0"/>
                <a:cs typeface="Times New Roman" panose="02020603050405020304" pitchFamily="18" charset="0"/>
              </a:rPr>
              <a:t>Objective 2:</a:t>
            </a:r>
          </a:p>
          <a:p>
            <a:pPr algn="just">
              <a:lnSpc>
                <a:spcPct val="150000"/>
              </a:lnSpc>
            </a:pPr>
            <a:r>
              <a:rPr lang="en-US" sz="2400" dirty="0"/>
              <a:t>            </a:t>
            </a:r>
            <a:r>
              <a:rPr lang="en-US" sz="2400" dirty="0">
                <a:latin typeface="Times New Roman" panose="02020603050405020304" pitchFamily="18" charset="0"/>
                <a:cs typeface="Times New Roman" panose="02020603050405020304" pitchFamily="18" charset="0"/>
              </a:rPr>
              <a:t>To provide users with precautionary measures, treatment suggestions, and automated email notifications containing detailed insect-related information for early prevention and household safety.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4200" y="-15491"/>
            <a:ext cx="6629400" cy="443711"/>
          </a:xfrm>
          <a:prstGeom prst="rect">
            <a:avLst/>
          </a:prstGeom>
        </p:spPr>
        <p:txBody>
          <a:bodyPr vert="horz" wrap="square" lIns="0" tIns="12700" rIns="0" bIns="0" rtlCol="0">
            <a:spAutoFit/>
          </a:bodyPr>
          <a:lstStyle/>
          <a:p>
            <a:pPr marL="12700">
              <a:spcBef>
                <a:spcPts val="100"/>
              </a:spcBef>
            </a:pPr>
            <a:r>
              <a:rPr lang="en-US" sz="1400" b="1" i="1" dirty="0">
                <a:solidFill>
                  <a:srgbClr val="FFFFFF"/>
                </a:solidFill>
              </a:rPr>
              <a:t>Insect Damage Detection in Household Surfaces Using AI-Based Image Processing </a:t>
            </a:r>
            <a:br>
              <a:rPr lang="en-US" sz="1500" dirty="0"/>
            </a:br>
            <a:endParaRPr sz="1400" dirty="0">
              <a:latin typeface="Times New Roman"/>
              <a:cs typeface="Times New Roman"/>
            </a:endParaRPr>
          </a:p>
        </p:txBody>
      </p:sp>
      <p:grpSp>
        <p:nvGrpSpPr>
          <p:cNvPr id="3" name="object 3"/>
          <p:cNvGrpSpPr/>
          <p:nvPr/>
        </p:nvGrpSpPr>
        <p:grpSpPr>
          <a:xfrm>
            <a:off x="0" y="232028"/>
            <a:ext cx="12192000" cy="803275"/>
            <a:chOff x="0" y="216408"/>
            <a:chExt cx="12192000" cy="803275"/>
          </a:xfrm>
        </p:grpSpPr>
        <p:pic>
          <p:nvPicPr>
            <p:cNvPr id="4" name="object 4"/>
            <p:cNvPicPr/>
            <p:nvPr/>
          </p:nvPicPr>
          <p:blipFill>
            <a:blip r:embed="rId3" cstate="print"/>
            <a:stretch>
              <a:fillRect/>
            </a:stretch>
          </p:blipFill>
          <p:spPr>
            <a:xfrm>
              <a:off x="0" y="216408"/>
              <a:ext cx="12192000" cy="803148"/>
            </a:xfrm>
            <a:prstGeom prst="rect">
              <a:avLst/>
            </a:prstGeom>
          </p:spPr>
        </p:pic>
        <p:sp>
          <p:nvSpPr>
            <p:cNvPr id="5" name="object 5"/>
            <p:cNvSpPr/>
            <p:nvPr/>
          </p:nvSpPr>
          <p:spPr>
            <a:xfrm>
              <a:off x="0" y="233159"/>
              <a:ext cx="12192000" cy="715010"/>
            </a:xfrm>
            <a:custGeom>
              <a:avLst/>
              <a:gdLst/>
              <a:ahLst/>
              <a:cxnLst/>
              <a:rect l="l" t="t" r="r" b="b"/>
              <a:pathLst>
                <a:path w="12192000" h="715010">
                  <a:moveTo>
                    <a:pt x="12192000" y="0"/>
                  </a:moveTo>
                  <a:lnTo>
                    <a:pt x="0" y="0"/>
                  </a:lnTo>
                  <a:lnTo>
                    <a:pt x="0" y="714387"/>
                  </a:lnTo>
                  <a:lnTo>
                    <a:pt x="12192000" y="714387"/>
                  </a:lnTo>
                  <a:lnTo>
                    <a:pt x="12192000" y="0"/>
                  </a:lnTo>
                  <a:close/>
                </a:path>
              </a:pathLst>
            </a:custGeom>
            <a:solidFill>
              <a:srgbClr val="FF6600"/>
            </a:solidFill>
          </p:spPr>
          <p:txBody>
            <a:bodyPr wrap="square" lIns="0" tIns="0" rIns="0" bIns="0" rtlCol="0"/>
            <a:lstStyle/>
            <a:p>
              <a:endParaRPr/>
            </a:p>
          </p:txBody>
        </p:sp>
      </p:grpSp>
      <p:sp>
        <p:nvSpPr>
          <p:cNvPr id="6" name="object 6"/>
          <p:cNvSpPr txBox="1"/>
          <p:nvPr/>
        </p:nvSpPr>
        <p:spPr>
          <a:xfrm>
            <a:off x="133908" y="232028"/>
            <a:ext cx="3936365" cy="696595"/>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FFFFFF"/>
                </a:solidFill>
                <a:latin typeface="Times New Roman"/>
                <a:cs typeface="Times New Roman"/>
              </a:rPr>
              <a:t>Literature</a:t>
            </a:r>
            <a:r>
              <a:rPr sz="4400" spc="-100" dirty="0">
                <a:solidFill>
                  <a:srgbClr val="FFFFFF"/>
                </a:solidFill>
                <a:latin typeface="Times New Roman"/>
                <a:cs typeface="Times New Roman"/>
              </a:rPr>
              <a:t> </a:t>
            </a:r>
            <a:r>
              <a:rPr sz="4400" spc="-10" dirty="0">
                <a:solidFill>
                  <a:srgbClr val="FFFFFF"/>
                </a:solidFill>
                <a:latin typeface="Times New Roman"/>
                <a:cs typeface="Times New Roman"/>
              </a:rPr>
              <a:t>Survey</a:t>
            </a:r>
            <a:endParaRPr sz="4400" dirty="0">
              <a:latin typeface="Times New Roman"/>
              <a:cs typeface="Times New Roman"/>
            </a:endParaRPr>
          </a:p>
        </p:txBody>
      </p:sp>
      <p:sp>
        <p:nvSpPr>
          <p:cNvPr id="8" name="object 8"/>
          <p:cNvSpPr txBox="1"/>
          <p:nvPr/>
        </p:nvSpPr>
        <p:spPr>
          <a:xfrm>
            <a:off x="140614" y="6608595"/>
            <a:ext cx="535305" cy="230832"/>
          </a:xfrm>
          <a:prstGeom prst="rect">
            <a:avLst/>
          </a:prstGeom>
        </p:spPr>
        <p:txBody>
          <a:bodyPr vert="horz" wrap="square" lIns="0" tIns="0" rIns="0" bIns="0" rtlCol="0">
            <a:spAutoFit/>
          </a:bodyPr>
          <a:lstStyle/>
          <a:p>
            <a:pPr marL="12700">
              <a:lnSpc>
                <a:spcPts val="1839"/>
              </a:lnSpc>
            </a:pPr>
            <a:r>
              <a:rPr lang="en-IN" sz="1600" dirty="0">
                <a:solidFill>
                  <a:srgbClr val="FFFFFF"/>
                </a:solidFill>
                <a:latin typeface="Times New Roman"/>
                <a:cs typeface="Times New Roman"/>
              </a:rPr>
              <a:t>B-10</a:t>
            </a:r>
            <a:endParaRPr sz="1600" dirty="0">
              <a:latin typeface="Times New Roman"/>
              <a:cs typeface="Times New Roman"/>
            </a:endParaRPr>
          </a:p>
        </p:txBody>
      </p:sp>
      <p:sp>
        <p:nvSpPr>
          <p:cNvPr id="9" name="object 9"/>
          <p:cNvSpPr txBox="1">
            <a:spLocks noGrp="1"/>
          </p:cNvSpPr>
          <p:nvPr>
            <p:ph type="ftr" sz="quarter" idx="5"/>
          </p:nvPr>
        </p:nvSpPr>
        <p:spPr>
          <a:xfrm>
            <a:off x="1121765" y="6607681"/>
            <a:ext cx="4474184" cy="230832"/>
          </a:xfrm>
          <a:prstGeom prst="rect">
            <a:avLst/>
          </a:prstGeom>
        </p:spPr>
        <p:txBody>
          <a:bodyPr vert="horz" wrap="square" lIns="0" tIns="0" rIns="0" bIns="0" rtlCol="0">
            <a:spAutoFit/>
          </a:bodyPr>
          <a:lstStyle/>
          <a:p>
            <a:pPr marL="12700">
              <a:lnSpc>
                <a:spcPts val="1839"/>
              </a:lnSpc>
            </a:pPr>
            <a:r>
              <a:rPr cap="small" spc="-70" dirty="0"/>
              <a:t>Dept.</a:t>
            </a:r>
            <a:r>
              <a:rPr cap="small" spc="-130" dirty="0"/>
              <a:t> </a:t>
            </a:r>
            <a:r>
              <a:rPr cap="small" dirty="0"/>
              <a:t>of</a:t>
            </a:r>
            <a:r>
              <a:rPr cap="small" spc="55" dirty="0"/>
              <a:t> </a:t>
            </a:r>
            <a:r>
              <a:rPr cap="small" spc="-95" dirty="0"/>
              <a:t>Computer</a:t>
            </a:r>
            <a:r>
              <a:rPr cap="small" spc="45" dirty="0"/>
              <a:t> </a:t>
            </a:r>
            <a:r>
              <a:rPr cap="small" spc="-75" dirty="0"/>
              <a:t>Science</a:t>
            </a:r>
            <a:r>
              <a:rPr cap="small" spc="15" dirty="0"/>
              <a:t> </a:t>
            </a:r>
            <a:r>
              <a:rPr cap="small" spc="-40" dirty="0"/>
              <a:t>and</a:t>
            </a:r>
            <a:r>
              <a:rPr cap="small" spc="45" dirty="0"/>
              <a:t> </a:t>
            </a:r>
            <a:r>
              <a:rPr cap="small" spc="-90" dirty="0"/>
              <a:t>Engineering</a:t>
            </a:r>
            <a:r>
              <a:rPr cap="small" spc="-50" dirty="0"/>
              <a:t> </a:t>
            </a:r>
            <a:endParaRPr cap="small" spc="-125" dirty="0"/>
          </a:p>
        </p:txBody>
      </p:sp>
      <p:sp>
        <p:nvSpPr>
          <p:cNvPr id="10" name="object 10"/>
          <p:cNvSpPr txBox="1">
            <a:spLocks noGrp="1"/>
          </p:cNvSpPr>
          <p:nvPr>
            <p:ph type="dt" sz="half" idx="6"/>
          </p:nvPr>
        </p:nvSpPr>
        <p:spPr>
          <a:xfrm>
            <a:off x="6249315" y="6611112"/>
            <a:ext cx="4800600" cy="235549"/>
          </a:xfrm>
          <a:prstGeom prst="rect">
            <a:avLst/>
          </a:prstGeom>
        </p:spPr>
        <p:txBody>
          <a:bodyPr vert="horz" wrap="square" lIns="0" tIns="0" rIns="0" bIns="0" rtlCol="0">
            <a:spAutoFit/>
          </a:bodyPr>
          <a:lstStyle/>
          <a:p>
            <a:pPr marL="509270">
              <a:lnSpc>
                <a:spcPts val="1839"/>
              </a:lnSpc>
            </a:pPr>
            <a:r>
              <a:rPr lang="en-IN" cap="small" spc="-85" dirty="0"/>
              <a:t>Srinivasa</a:t>
            </a:r>
            <a:r>
              <a:rPr lang="en-IN" cap="small" spc="-10" dirty="0"/>
              <a:t> </a:t>
            </a:r>
            <a:r>
              <a:rPr lang="en-IN" cap="small" spc="-95" dirty="0"/>
              <a:t>Ramanujan</a:t>
            </a:r>
            <a:r>
              <a:rPr lang="en-IN" cap="small" spc="-20" dirty="0"/>
              <a:t> </a:t>
            </a:r>
            <a:r>
              <a:rPr lang="en-IN" cap="small" spc="-95" dirty="0"/>
              <a:t>Institute</a:t>
            </a:r>
            <a:r>
              <a:rPr lang="en-IN" cap="small" spc="80" dirty="0"/>
              <a:t> </a:t>
            </a:r>
            <a:r>
              <a:rPr lang="en-IN" cap="small" dirty="0"/>
              <a:t>of</a:t>
            </a:r>
            <a:r>
              <a:rPr lang="en-IN" cap="small" spc="145" dirty="0"/>
              <a:t> </a:t>
            </a:r>
            <a:r>
              <a:rPr lang="en-IN" cap="small" spc="-155" dirty="0"/>
              <a:t>Technology</a:t>
            </a:r>
            <a:endParaRPr cap="small" spc="-155"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839"/>
              </a:lnSpc>
            </a:pPr>
            <a:fld id="{81D60167-4931-47E6-BA6A-407CBD079E47}" type="slidenum">
              <a:rPr spc="-25" dirty="0"/>
              <a:t>7</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4120747705"/>
              </p:ext>
            </p:extLst>
          </p:nvPr>
        </p:nvGraphicFramePr>
        <p:xfrm>
          <a:off x="140614" y="1055733"/>
          <a:ext cx="11734800" cy="5472017"/>
        </p:xfrm>
        <a:graphic>
          <a:graphicData uri="http://schemas.openxmlformats.org/drawingml/2006/table">
            <a:tbl>
              <a:tblPr firstRow="1" bandRow="1">
                <a:tableStyleId>{2D5ABB26-0587-4C30-8999-92F81FD0307C}</a:tableStyleId>
              </a:tblPr>
              <a:tblGrid>
                <a:gridCol w="392786">
                  <a:extLst>
                    <a:ext uri="{9D8B030D-6E8A-4147-A177-3AD203B41FA5}">
                      <a16:colId xmlns:a16="http://schemas.microsoft.com/office/drawing/2014/main" val="20000"/>
                    </a:ext>
                  </a:extLst>
                </a:gridCol>
                <a:gridCol w="2827071">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180693">
                  <a:extLst>
                    <a:ext uri="{9D8B030D-6E8A-4147-A177-3AD203B41FA5}">
                      <a16:colId xmlns:a16="http://schemas.microsoft.com/office/drawing/2014/main" val="20003"/>
                    </a:ext>
                  </a:extLst>
                </a:gridCol>
                <a:gridCol w="2000250">
                  <a:extLst>
                    <a:ext uri="{9D8B030D-6E8A-4147-A177-3AD203B41FA5}">
                      <a16:colId xmlns:a16="http://schemas.microsoft.com/office/drawing/2014/main" val="20004"/>
                    </a:ext>
                  </a:extLst>
                </a:gridCol>
                <a:gridCol w="2133600">
                  <a:extLst>
                    <a:ext uri="{9D8B030D-6E8A-4147-A177-3AD203B41FA5}">
                      <a16:colId xmlns:a16="http://schemas.microsoft.com/office/drawing/2014/main" val="20005"/>
                    </a:ext>
                  </a:extLst>
                </a:gridCol>
                <a:gridCol w="2133600">
                  <a:extLst>
                    <a:ext uri="{9D8B030D-6E8A-4147-A177-3AD203B41FA5}">
                      <a16:colId xmlns:a16="http://schemas.microsoft.com/office/drawing/2014/main" val="20006"/>
                    </a:ext>
                  </a:extLst>
                </a:gridCol>
              </a:tblGrid>
              <a:tr h="791341">
                <a:tc>
                  <a:txBody>
                    <a:bodyPr/>
                    <a:lstStyle/>
                    <a:p>
                      <a:pPr marL="85090" algn="ctr">
                        <a:lnSpc>
                          <a:spcPts val="2150"/>
                        </a:lnSpc>
                      </a:pPr>
                      <a:r>
                        <a:rPr sz="1800" b="1" spc="-25" dirty="0">
                          <a:solidFill>
                            <a:srgbClr val="FFFFFF"/>
                          </a:solidFill>
                          <a:latin typeface="Calibri"/>
                          <a:cs typeface="Calibri"/>
                        </a:rPr>
                        <a:t>No</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gn="ctr">
                        <a:lnSpc>
                          <a:spcPts val="2150"/>
                        </a:lnSpc>
                      </a:pPr>
                      <a:r>
                        <a:rPr sz="1800" b="1" spc="-10" dirty="0">
                          <a:solidFill>
                            <a:srgbClr val="FFFFFF"/>
                          </a:solidFill>
                          <a:latin typeface="Calibri"/>
                          <a:cs typeface="Calibri"/>
                        </a:rPr>
                        <a:t>Title</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tc>
                  <a:txBody>
                    <a:bodyPr/>
                    <a:lstStyle/>
                    <a:p>
                      <a:pPr marL="85090" algn="ctr">
                        <a:lnSpc>
                          <a:spcPts val="2150"/>
                        </a:lnSpc>
                      </a:pPr>
                      <a:r>
                        <a:rPr sz="1800" b="1" spc="-10" dirty="0">
                          <a:solidFill>
                            <a:srgbClr val="FFFFFF"/>
                          </a:solidFill>
                          <a:latin typeface="Calibri"/>
                          <a:cs typeface="Calibri"/>
                        </a:rPr>
                        <a:t>Author</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137795" algn="ctr">
                        <a:lnSpc>
                          <a:spcPts val="2160"/>
                        </a:lnSpc>
                        <a:spcBef>
                          <a:spcPts val="60"/>
                        </a:spcBef>
                      </a:pPr>
                      <a:r>
                        <a:rPr sz="1800" b="1" dirty="0">
                          <a:solidFill>
                            <a:srgbClr val="FFFFFF"/>
                          </a:solidFill>
                          <a:latin typeface="Calibri"/>
                          <a:cs typeface="Calibri"/>
                        </a:rPr>
                        <a:t>Journal</a:t>
                      </a:r>
                      <a:r>
                        <a:rPr sz="1800" b="1" spc="-75" dirty="0">
                          <a:solidFill>
                            <a:srgbClr val="FFFFFF"/>
                          </a:solidFill>
                          <a:latin typeface="Calibri"/>
                          <a:cs typeface="Calibri"/>
                        </a:rPr>
                        <a:t> </a:t>
                      </a:r>
                      <a:r>
                        <a:rPr sz="1800" b="1" spc="-30" dirty="0">
                          <a:solidFill>
                            <a:srgbClr val="FFFFFF"/>
                          </a:solidFill>
                          <a:latin typeface="Calibri"/>
                          <a:cs typeface="Calibri"/>
                        </a:rPr>
                        <a:t>Name </a:t>
                      </a:r>
                      <a:r>
                        <a:rPr sz="1800" b="1" dirty="0">
                          <a:solidFill>
                            <a:srgbClr val="FFFFFF"/>
                          </a:solidFill>
                          <a:latin typeface="Calibri"/>
                          <a:cs typeface="Calibri"/>
                        </a:rPr>
                        <a:t>&amp;</a:t>
                      </a:r>
                      <a:r>
                        <a:rPr sz="1800" b="1" spc="-10" dirty="0">
                          <a:solidFill>
                            <a:srgbClr val="FFFFFF"/>
                          </a:solidFill>
                          <a:latin typeface="Calibri"/>
                          <a:cs typeface="Calibri"/>
                        </a:rPr>
                        <a:t> </a:t>
                      </a:r>
                      <a:r>
                        <a:rPr sz="1800" b="1" spc="-20" dirty="0">
                          <a:solidFill>
                            <a:srgbClr val="FFFFFF"/>
                          </a:solidFill>
                          <a:latin typeface="Calibri"/>
                          <a:cs typeface="Calibri"/>
                        </a:rPr>
                        <a:t>Year</a:t>
                      </a:r>
                      <a:endParaRPr sz="1800" dirty="0">
                        <a:latin typeface="Calibri"/>
                        <a:cs typeface="Calibri"/>
                      </a:endParaRPr>
                    </a:p>
                  </a:txBody>
                  <a:tcPr marL="0" marR="0" marT="762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513715" algn="ctr">
                        <a:lnSpc>
                          <a:spcPts val="2160"/>
                        </a:lnSpc>
                        <a:spcBef>
                          <a:spcPts val="60"/>
                        </a:spcBef>
                      </a:pPr>
                      <a:r>
                        <a:rPr sz="1800" b="1" spc="-10" dirty="0">
                          <a:solidFill>
                            <a:srgbClr val="FFFFFF"/>
                          </a:solidFill>
                          <a:latin typeface="Calibri"/>
                          <a:cs typeface="Calibri"/>
                        </a:rPr>
                        <a:t>Methodology Adapted</a:t>
                      </a:r>
                      <a:endParaRPr sz="1800" dirty="0">
                        <a:latin typeface="Calibri"/>
                        <a:cs typeface="Calibri"/>
                      </a:endParaRPr>
                    </a:p>
                  </a:txBody>
                  <a:tcPr marL="0" marR="0" marT="762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algn="ctr">
                        <a:lnSpc>
                          <a:spcPts val="2150"/>
                        </a:lnSpc>
                      </a:pPr>
                      <a:r>
                        <a:rPr sz="1800" b="1" dirty="0">
                          <a:solidFill>
                            <a:srgbClr val="FFFFFF"/>
                          </a:solidFill>
                          <a:latin typeface="Calibri"/>
                          <a:cs typeface="Calibri"/>
                        </a:rPr>
                        <a:t>Key</a:t>
                      </a:r>
                      <a:r>
                        <a:rPr sz="1800" b="1" spc="-40" dirty="0">
                          <a:solidFill>
                            <a:srgbClr val="FFFFFF"/>
                          </a:solidFill>
                          <a:latin typeface="Calibri"/>
                          <a:cs typeface="Calibri"/>
                        </a:rPr>
                        <a:t> </a:t>
                      </a:r>
                      <a:r>
                        <a:rPr sz="1800" b="1" spc="-10" dirty="0">
                          <a:solidFill>
                            <a:srgbClr val="FFFFFF"/>
                          </a:solidFill>
                          <a:latin typeface="Calibri"/>
                          <a:cs typeface="Calibri"/>
                        </a:rPr>
                        <a:t>Findings</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7630" algn="ctr">
                        <a:lnSpc>
                          <a:spcPts val="2150"/>
                        </a:lnSpc>
                      </a:pPr>
                      <a:r>
                        <a:rPr sz="1800" b="1" spc="-20" dirty="0">
                          <a:solidFill>
                            <a:srgbClr val="FFFFFF"/>
                          </a:solidFill>
                          <a:latin typeface="Calibri"/>
                          <a:cs typeface="Calibri"/>
                        </a:rPr>
                        <a:t>Gaps</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extLst>
                  <a:ext uri="{0D108BD9-81ED-4DB2-BD59-A6C34878D82A}">
                    <a16:rowId xmlns:a16="http://schemas.microsoft.com/office/drawing/2014/main" val="10000"/>
                  </a:ext>
                </a:extLst>
              </a:tr>
              <a:tr h="1321022">
                <a:tc>
                  <a:txBody>
                    <a:bodyPr/>
                    <a:lstStyle/>
                    <a:p>
                      <a:pPr marL="85090">
                        <a:lnSpc>
                          <a:spcPts val="2155"/>
                        </a:lnSpc>
                      </a:pPr>
                      <a:r>
                        <a:rPr sz="1800" spc="-25" dirty="0">
                          <a:latin typeface="Calibri"/>
                          <a:cs typeface="Calibri"/>
                        </a:rPr>
                        <a:t>1.</a:t>
                      </a:r>
                      <a:endParaRPr sz="180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C"/>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b="0" i="0" dirty="0">
                          <a:solidFill>
                            <a:schemeClr val="tx1"/>
                          </a:solidFill>
                          <a:effectLst/>
                          <a:latin typeface="+mn-lt"/>
                          <a:ea typeface="+mn-ea"/>
                          <a:cs typeface="+mn-cs"/>
                        </a:rPr>
                        <a:t>Detection of Pest Feeding Traces on Industrial Wood Surfaces with 3D Imaging.</a:t>
                      </a:r>
                    </a:p>
                  </a:txBody>
                  <a:tcPr anchor="ctr">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tc>
                  <a:txBody>
                    <a:bodyPr/>
                    <a:lstStyle/>
                    <a:p>
                      <a:pPr marL="85090" marR="629285" algn="ctr">
                        <a:lnSpc>
                          <a:spcPts val="2160"/>
                        </a:lnSpc>
                        <a:spcBef>
                          <a:spcPts val="65"/>
                        </a:spcBef>
                      </a:pPr>
                      <a:r>
                        <a:rPr lang="en-IN"/>
                        <a:t>A.</a:t>
                      </a:r>
                      <a:r>
                        <a:rPr lang="en-IN" dirty="0" err="1"/>
                        <a:t>Sioma</a:t>
                      </a:r>
                      <a:r>
                        <a:rPr lang="en-IN" dirty="0"/>
                        <a:t> et al.</a:t>
                      </a:r>
                      <a:endParaRPr sz="1800" dirty="0">
                        <a:latin typeface="Calibri"/>
                        <a:cs typeface="Calibri"/>
                      </a:endParaRPr>
                    </a:p>
                  </a:txBody>
                  <a:tcPr marL="0" marR="0" marT="8255"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algn="ctr">
                        <a:lnSpc>
                          <a:spcPts val="2155"/>
                        </a:lnSpc>
                      </a:pPr>
                      <a:r>
                        <a:rPr lang="en-IN" dirty="0"/>
                        <a:t>Applied Sciences, MDPI (2024)</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71170" algn="ctr">
                        <a:lnSpc>
                          <a:spcPts val="2160"/>
                        </a:lnSpc>
                        <a:spcBef>
                          <a:spcPts val="65"/>
                        </a:spcBef>
                      </a:pPr>
                      <a:r>
                        <a:rPr lang="en-US" dirty="0"/>
                        <a:t>3D imaging with image analysis</a:t>
                      </a:r>
                      <a:endParaRPr sz="1800" dirty="0">
                        <a:latin typeface="Calibri"/>
                        <a:cs typeface="Calibri"/>
                      </a:endParaRPr>
                    </a:p>
                  </a:txBody>
                  <a:tcPr marL="0" marR="0" marT="8255" marB="0" anchor="ctr">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tc>
                  <a:txBody>
                    <a:bodyPr/>
                    <a:lstStyle/>
                    <a:p>
                      <a:pPr marL="85725" marR="450850" algn="ctr">
                        <a:lnSpc>
                          <a:spcPts val="2160"/>
                        </a:lnSpc>
                        <a:spcBef>
                          <a:spcPts val="65"/>
                        </a:spcBef>
                      </a:pPr>
                      <a:r>
                        <a:rPr lang="en-US" dirty="0"/>
                        <a:t>Accurately detected pest feeding traces on wood</a:t>
                      </a:r>
                      <a:endParaRPr lang="en-US" sz="1800" dirty="0">
                        <a:latin typeface="+mn-lt"/>
                        <a:cs typeface="Calibri"/>
                      </a:endParaRPr>
                    </a:p>
                  </a:txBody>
                  <a:tcPr marL="0" marR="0" marT="8255"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7630" marR="459740" algn="ctr">
                        <a:lnSpc>
                          <a:spcPts val="2160"/>
                        </a:lnSpc>
                        <a:spcBef>
                          <a:spcPts val="65"/>
                        </a:spcBef>
                      </a:pPr>
                      <a:r>
                        <a:rPr lang="en-US" dirty="0"/>
                        <a:t>Applied only to industrial wood environments</a:t>
                      </a:r>
                      <a:endParaRPr sz="1800" dirty="0">
                        <a:latin typeface="Calibri"/>
                        <a:cs typeface="Calibri"/>
                      </a:endParaRPr>
                    </a:p>
                  </a:txBody>
                  <a:tcPr marL="0" marR="0" marT="8255"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extLst>
                  <a:ext uri="{0D108BD9-81ED-4DB2-BD59-A6C34878D82A}">
                    <a16:rowId xmlns:a16="http://schemas.microsoft.com/office/drawing/2014/main" val="10001"/>
                  </a:ext>
                </a:extLst>
              </a:tr>
              <a:tr h="865456">
                <a:tc>
                  <a:txBody>
                    <a:bodyPr/>
                    <a:lstStyle/>
                    <a:p>
                      <a:pPr marL="85090">
                        <a:lnSpc>
                          <a:spcPts val="2155"/>
                        </a:lnSpc>
                      </a:pPr>
                      <a:r>
                        <a:rPr sz="1800" spc="-50" dirty="0">
                          <a:latin typeface="Calibri"/>
                          <a:cs typeface="Calibri"/>
                        </a:rPr>
                        <a:t>2</a:t>
                      </a:r>
                      <a:endParaRPr sz="180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CF6"/>
                    </a:solidFill>
                  </a:tcPr>
                </a:tc>
                <a:tc>
                  <a:txBody>
                    <a:bodyPr/>
                    <a:lstStyle/>
                    <a:p>
                      <a:pPr algn="ctr">
                        <a:buNone/>
                      </a:pPr>
                      <a:r>
                        <a:rPr lang="en-US" dirty="0"/>
                        <a:t>Automatic Insect Detection Using Deep Learning (Mask R-CNN)</a:t>
                      </a:r>
                      <a:endParaRPr lang="en-IN" dirty="0"/>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51435" algn="ctr">
                        <a:lnSpc>
                          <a:spcPts val="2045"/>
                        </a:lnSpc>
                      </a:pPr>
                      <a:r>
                        <a:rPr lang="en-IN" dirty="0"/>
                        <a:t>S. Y. </a:t>
                      </a:r>
                      <a:r>
                        <a:rPr lang="en-IN" dirty="0" err="1"/>
                        <a:t>Kamdi</a:t>
                      </a:r>
                      <a:r>
                        <a:rPr lang="en-IN" dirty="0"/>
                        <a:t>, V. Biradar</a:t>
                      </a:r>
                      <a:endParaRPr sz="1800" dirty="0">
                        <a:latin typeface="Calibri"/>
                        <a:cs typeface="Calibri"/>
                      </a:endParaRPr>
                    </a:p>
                  </a:txBody>
                  <a:tcPr marL="0" marR="0" marT="0" marB="0"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2069" algn="ctr">
                        <a:lnSpc>
                          <a:spcPts val="2045"/>
                        </a:lnSpc>
                      </a:pPr>
                      <a:r>
                        <a:rPr lang="en-IN" dirty="0"/>
                        <a:t>IJISAE (2024)</a:t>
                      </a:r>
                      <a:endParaRPr sz="1800" dirty="0">
                        <a:latin typeface="Calibri"/>
                        <a:cs typeface="Calibri"/>
                      </a:endParaRPr>
                    </a:p>
                  </a:txBody>
                  <a:tcPr marL="0" marR="0" marT="0" marB="0" anchor="ct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cap="flat" cmpd="sng" algn="ctr">
                      <a:solidFill>
                        <a:srgbClr val="FFFFFF"/>
                      </a:solidFill>
                      <a:prstDash val="solid"/>
                      <a:round/>
                      <a:headEnd type="none" w="med" len="med"/>
                      <a:tailEnd type="none" w="med" len="med"/>
                    </a:lnB>
                    <a:solidFill>
                      <a:srgbClr val="E9ECF6"/>
                    </a:solidFill>
                  </a:tcPr>
                </a:tc>
                <a:tc>
                  <a:txBody>
                    <a:bodyPr/>
                    <a:lstStyle/>
                    <a:p>
                      <a:pPr>
                        <a:buNone/>
                      </a:pPr>
                      <a:r>
                        <a:rPr lang="en-IN" dirty="0"/>
                        <a:t>Deep learning-based object detection</a:t>
                      </a:r>
                    </a:p>
                  </a:txBody>
                  <a:tcPr anchor="ctr">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E9ECF6"/>
                    </a:solidFill>
                  </a:tcPr>
                </a:tc>
                <a:tc>
                  <a:txBody>
                    <a:bodyPr/>
                    <a:lstStyle/>
                    <a:p>
                      <a:pPr marL="635" algn="ctr">
                        <a:lnSpc>
                          <a:spcPts val="2045"/>
                        </a:lnSpc>
                      </a:pPr>
                      <a:r>
                        <a:rPr lang="en-US" dirty="0"/>
                        <a:t>Successfully detected and classified insects</a:t>
                      </a:r>
                      <a:endParaRPr sz="1800" dirty="0">
                        <a:latin typeface="Calibri"/>
                        <a:cs typeface="Calibri"/>
                      </a:endParaRPr>
                    </a:p>
                  </a:txBody>
                  <a:tcPr marL="0" marR="0" marT="0" marB="0"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gn="ctr">
                        <a:lnSpc>
                          <a:spcPts val="2045"/>
                        </a:lnSpc>
                      </a:pPr>
                      <a:r>
                        <a:rPr lang="en-US" dirty="0"/>
                        <a:t>Surface damage detection not included</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extLst>
                  <a:ext uri="{0D108BD9-81ED-4DB2-BD59-A6C34878D82A}">
                    <a16:rowId xmlns:a16="http://schemas.microsoft.com/office/drawing/2014/main" val="10002"/>
                  </a:ext>
                </a:extLst>
              </a:tr>
              <a:tr h="1047415">
                <a:tc>
                  <a:txBody>
                    <a:bodyPr/>
                    <a:lstStyle/>
                    <a:p>
                      <a:pPr marL="85090">
                        <a:lnSpc>
                          <a:spcPts val="2150"/>
                        </a:lnSpc>
                      </a:pPr>
                      <a:r>
                        <a:rPr sz="1800" spc="-50" dirty="0">
                          <a:latin typeface="Calibri"/>
                          <a:cs typeface="Calibri"/>
                        </a:rPr>
                        <a:t>3</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algn="ctr">
                        <a:lnSpc>
                          <a:spcPts val="2050"/>
                        </a:lnSpc>
                      </a:pPr>
                      <a:r>
                        <a:rPr lang="en-IN" sz="1800" dirty="0">
                          <a:latin typeface="Calibri"/>
                          <a:cs typeface="Calibri"/>
                        </a:rPr>
                        <a:t>Automatic Damage Detection on Traditional Wooden Structures Using DL</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EEC"/>
                    </a:solidFill>
                  </a:tcPr>
                </a:tc>
                <a:tc>
                  <a:txBody>
                    <a:bodyPr/>
                    <a:lstStyle/>
                    <a:p>
                      <a:pPr marL="51435" algn="ctr">
                        <a:lnSpc>
                          <a:spcPts val="2050"/>
                        </a:lnSpc>
                      </a:pPr>
                      <a:r>
                        <a:rPr lang="en-IN" dirty="0"/>
                        <a:t>K. Singh</a:t>
                      </a:r>
                      <a:endParaRPr sz="1800" dirty="0">
                        <a:latin typeface="Calibri"/>
                        <a:cs typeface="Calibri"/>
                      </a:endParaRPr>
                    </a:p>
                  </a:txBody>
                  <a:tcPr marL="0" marR="0" marT="0" marB="0" anchor="ct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D0DEEC"/>
                    </a:solidFill>
                  </a:tcPr>
                </a:tc>
                <a:tc>
                  <a:txBody>
                    <a:bodyPr/>
                    <a:lstStyle/>
                    <a:p>
                      <a:pPr algn="ctr">
                        <a:buNone/>
                      </a:pPr>
                      <a:r>
                        <a:rPr lang="en-IN" dirty="0"/>
                        <a:t>IEEE / Elsevier (2023)</a:t>
                      </a:r>
                    </a:p>
                  </a:txBody>
                  <a:tcPr anchor="ct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D0DEEC"/>
                    </a:solidFill>
                  </a:tcPr>
                </a:tc>
                <a:tc>
                  <a:txBody>
                    <a:bodyPr/>
                    <a:lstStyle/>
                    <a:p>
                      <a:pPr algn="ctr">
                        <a:buNone/>
                      </a:pPr>
                      <a:r>
                        <a:rPr lang="en-US" dirty="0"/>
                        <a:t>CNN-based deep learning image classification</a:t>
                      </a:r>
                      <a:endParaRPr lang="en-IN" dirty="0"/>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D0DEEC"/>
                    </a:solidFill>
                  </a:tcPr>
                </a:tc>
                <a:tc>
                  <a:txBody>
                    <a:bodyPr/>
                    <a:lstStyle/>
                    <a:p>
                      <a:pPr marL="635" algn="ctr">
                        <a:lnSpc>
                          <a:spcPts val="2050"/>
                        </a:lnSpc>
                      </a:pPr>
                      <a:r>
                        <a:rPr lang="en-US" dirty="0"/>
                        <a:t>Detected structural damage on wooden surfaces with high accuracy</a:t>
                      </a:r>
                      <a:endParaRPr sz="1800" dirty="0">
                        <a:latin typeface="Calibri"/>
                        <a:cs typeface="Calibri"/>
                      </a:endParaRPr>
                    </a:p>
                  </a:txBody>
                  <a:tcPr marL="0" marR="0" marT="0" marB="0"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gn="ctr">
                        <a:lnSpc>
                          <a:spcPts val="2050"/>
                        </a:lnSpc>
                      </a:pPr>
                      <a:r>
                        <a:rPr lang="en-US" dirty="0"/>
                        <a:t>Limited to wooden structures; insect damage not covered</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extLst>
                  <a:ext uri="{0D108BD9-81ED-4DB2-BD59-A6C34878D82A}">
                    <a16:rowId xmlns:a16="http://schemas.microsoft.com/office/drawing/2014/main" val="10003"/>
                  </a:ext>
                </a:extLst>
              </a:tr>
              <a:tr h="1262123">
                <a:tc>
                  <a:txBody>
                    <a:bodyPr/>
                    <a:lstStyle/>
                    <a:p>
                      <a:pPr marL="85090">
                        <a:lnSpc>
                          <a:spcPts val="2160"/>
                        </a:lnSpc>
                      </a:pPr>
                      <a:r>
                        <a:rPr sz="1800" spc="-50" dirty="0">
                          <a:latin typeface="Calibri"/>
                          <a:cs typeface="Calibri"/>
                        </a:rPr>
                        <a:t>4</a:t>
                      </a:r>
                      <a:endParaRPr sz="180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CF6"/>
                    </a:solidFill>
                  </a:tcPr>
                </a:tc>
                <a:tc>
                  <a:txBody>
                    <a:bodyPr/>
                    <a:lstStyle/>
                    <a:p>
                      <a:pPr algn="ctr">
                        <a:buNone/>
                      </a:pPr>
                      <a:r>
                        <a:rPr lang="en-US" dirty="0"/>
                        <a:t>Image Processing Techniques Based Feature Extraction for Insect Damage Areas</a:t>
                      </a:r>
                      <a:endParaRPr lang="en-IN" dirty="0"/>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1435" algn="ctr">
                        <a:lnSpc>
                          <a:spcPts val="2050"/>
                        </a:lnSpc>
                      </a:pPr>
                      <a:r>
                        <a:rPr lang="en-IN" dirty="0"/>
                        <a:t>E. Alkan, A. Aydın</a:t>
                      </a:r>
                      <a:endParaRPr sz="1800" dirty="0">
                        <a:latin typeface="Calibri"/>
                        <a:cs typeface="Calibri"/>
                      </a:endParaRPr>
                    </a:p>
                  </a:txBody>
                  <a:tcPr marL="0" marR="0" marT="0" marB="0"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2069" algn="ctr">
                        <a:lnSpc>
                          <a:spcPts val="2050"/>
                        </a:lnSpc>
                      </a:pPr>
                      <a:r>
                        <a:rPr lang="en-US" dirty="0"/>
                        <a:t>European Journal of Forest Engineering (2023)</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635" algn="ctr">
                        <a:lnSpc>
                          <a:spcPts val="2050"/>
                        </a:lnSpc>
                      </a:pPr>
                      <a:r>
                        <a:rPr lang="en-US" dirty="0"/>
                        <a:t>Image processing and texture feature extraction</a:t>
                      </a:r>
                      <a:endParaRPr sz="1800" dirty="0">
                        <a:latin typeface="Calibri"/>
                        <a:cs typeface="Calibri"/>
                      </a:endParaRPr>
                    </a:p>
                  </a:txBody>
                  <a:tcPr marL="0" marR="0" marT="0" marB="0"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635" algn="ctr">
                        <a:lnSpc>
                          <a:spcPts val="2050"/>
                        </a:lnSpc>
                      </a:pPr>
                      <a:r>
                        <a:rPr lang="en-US" dirty="0"/>
                        <a:t>Identified insect-damaged regions from images</a:t>
                      </a:r>
                      <a:endParaRPr sz="1800" dirty="0">
                        <a:latin typeface="Calibri"/>
                        <a:cs typeface="Calibri"/>
                      </a:endParaRPr>
                    </a:p>
                  </a:txBody>
                  <a:tcPr marL="0" marR="0" marT="0" marB="0" anchor="ct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CF6"/>
                    </a:solidFill>
                  </a:tcPr>
                </a:tc>
                <a:tc>
                  <a:txBody>
                    <a:bodyPr/>
                    <a:lstStyle/>
                    <a:p>
                      <a:pPr algn="ctr">
                        <a:buNone/>
                      </a:pPr>
                      <a:r>
                        <a:rPr lang="en-US" dirty="0"/>
                        <a:t>Did not consider insect-related damage patterns</a:t>
                      </a: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71800" y="14895"/>
            <a:ext cx="6477000" cy="228268"/>
          </a:xfrm>
          <a:prstGeom prst="rect">
            <a:avLst/>
          </a:prstGeom>
        </p:spPr>
        <p:txBody>
          <a:bodyPr vert="horz" wrap="square" lIns="0" tIns="12700" rIns="0" bIns="0" rtlCol="0">
            <a:spAutoFit/>
          </a:bodyPr>
          <a:lstStyle/>
          <a:p>
            <a:pPr marL="12700">
              <a:lnSpc>
                <a:spcPct val="100000"/>
              </a:lnSpc>
              <a:spcBef>
                <a:spcPts val="100"/>
              </a:spcBef>
            </a:pPr>
            <a:r>
              <a:rPr lang="en-US" sz="1400" b="1" i="1" dirty="0">
                <a:solidFill>
                  <a:srgbClr val="FFFFFF"/>
                </a:solidFill>
                <a:latin typeface="Times New Roman"/>
                <a:cs typeface="Times New Roman"/>
              </a:rPr>
              <a:t>Insect Damage Detection in Household Surfaces Using AI-Based Image Processing</a:t>
            </a:r>
            <a:endParaRPr sz="1500" dirty="0">
              <a:latin typeface="Times New Roman"/>
              <a:cs typeface="Times New Roman"/>
            </a:endParaRPr>
          </a:p>
        </p:txBody>
      </p:sp>
      <p:sp>
        <p:nvSpPr>
          <p:cNvPr id="3" name="object 3"/>
          <p:cNvSpPr txBox="1"/>
          <p:nvPr/>
        </p:nvSpPr>
        <p:spPr>
          <a:xfrm>
            <a:off x="236899" y="1002318"/>
            <a:ext cx="11164570" cy="1064394"/>
          </a:xfrm>
          <a:prstGeom prst="rect">
            <a:avLst/>
          </a:prstGeom>
        </p:spPr>
        <p:txBody>
          <a:bodyPr vert="horz" wrap="square" lIns="0" tIns="60960" rIns="0" bIns="0" rtlCol="0">
            <a:spAutoFit/>
          </a:bodyPr>
          <a:lstStyle/>
          <a:p>
            <a:pPr marL="12700" marR="5080" algn="just">
              <a:lnSpc>
                <a:spcPct val="150000"/>
              </a:lnSpc>
              <a:spcBef>
                <a:spcPts val="480"/>
              </a:spcBef>
              <a:tabLst>
                <a:tab pos="505459" algn="l"/>
              </a:tabLst>
            </a:pPr>
            <a:endParaRPr lang="en-US" sz="2400" dirty="0">
              <a:latin typeface="Times New Roman" panose="02020603050405020304" pitchFamily="18" charset="0"/>
              <a:cs typeface="Times New Roman" panose="02020603050405020304" pitchFamily="18" charset="0"/>
            </a:endParaRPr>
          </a:p>
          <a:p>
            <a:pPr marL="12700" marR="5080" algn="just">
              <a:lnSpc>
                <a:spcPts val="3020"/>
              </a:lnSpc>
              <a:spcBef>
                <a:spcPts val="480"/>
              </a:spcBef>
              <a:tabLst>
                <a:tab pos="505459" algn="l"/>
              </a:tabLst>
            </a:pPr>
            <a:endParaRPr sz="2800" dirty="0">
              <a:latin typeface="Calibri"/>
              <a:cs typeface="Calibri"/>
            </a:endParaRP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16" name="TextBox 15">
            <a:extLst>
              <a:ext uri="{FF2B5EF4-FFF2-40B4-BE49-F238E27FC236}">
                <a16:creationId xmlns:a16="http://schemas.microsoft.com/office/drawing/2014/main" id="{E1DF43E4-6B78-EB67-7EC5-2712C9B407F0}"/>
              </a:ext>
            </a:extLst>
          </p:cNvPr>
          <p:cNvSpPr txBox="1"/>
          <p:nvPr/>
        </p:nvSpPr>
        <p:spPr>
          <a:xfrm>
            <a:off x="381000" y="1031815"/>
            <a:ext cx="11164570" cy="5011565"/>
          </a:xfrm>
          <a:prstGeom prst="rect">
            <a:avLst/>
          </a:prstGeom>
          <a:noFill/>
        </p:spPr>
        <p:txBody>
          <a:bodyPr wrap="square">
            <a:spAutoFit/>
          </a:bodyPr>
          <a:lstStyle/>
          <a:p>
            <a:pPr algn="just">
              <a:lnSpc>
                <a:spcPct val="150000"/>
              </a:lnSpc>
            </a:pPr>
            <a:r>
              <a:rPr lang="en-US" sz="2400" dirty="0"/>
              <a:t>The proposed system uses AI-based image processing to detect insect damage on wooden surfaces, walls, and soil. Captured images are preprocessed to remove noise and enhance clarity, followed by feature extraction to identify holes, cracks, discoloration, powder formation, and soil disturbances. A machine learning model then classifies the type and severity of the damage. After detection, the system provides precautionary steps and treatment suggestions, along with an email notification that sends users detailed information about the detected insect activity. This makes the system an efficient and intelligent solution for early household damage detection and prevention.</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18836"/>
            <a:ext cx="6629400" cy="228268"/>
          </a:xfrm>
          <a:prstGeom prst="rect">
            <a:avLst/>
          </a:prstGeom>
        </p:spPr>
        <p:txBody>
          <a:bodyPr vert="horz" wrap="square" lIns="0" tIns="12700" rIns="0" bIns="0" rtlCol="0">
            <a:spAutoFit/>
          </a:bodyPr>
          <a:lstStyle/>
          <a:p>
            <a:pPr marL="12700">
              <a:lnSpc>
                <a:spcPct val="100000"/>
              </a:lnSpc>
              <a:spcBef>
                <a:spcPts val="100"/>
              </a:spcBef>
            </a:pPr>
            <a:r>
              <a:rPr lang="en-US" sz="1400" b="1" i="1" dirty="0">
                <a:solidFill>
                  <a:srgbClr val="FFFFFF"/>
                </a:solidFill>
                <a:latin typeface="Times New Roman"/>
                <a:cs typeface="Times New Roman"/>
              </a:rPr>
              <a:t>Insect Damage Detection in Household Surfaces Using AI-Based Image Processing</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7" name="object 7"/>
          <p:cNvSpPr txBox="1"/>
          <p:nvPr/>
        </p:nvSpPr>
        <p:spPr>
          <a:xfrm>
            <a:off x="272465" y="1074318"/>
            <a:ext cx="11630025" cy="4519507"/>
          </a:xfrm>
          <a:prstGeom prst="rect">
            <a:avLst/>
          </a:prstGeom>
        </p:spPr>
        <p:txBody>
          <a:bodyPr vert="horz" wrap="square" lIns="0" tIns="60960" rIns="0" bIns="0"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[1] </a:t>
            </a:r>
            <a:r>
              <a:rPr lang="en-US" sz="2400" b="1" dirty="0">
                <a:latin typeface="Times New Roman" panose="02020603050405020304" pitchFamily="18" charset="0"/>
                <a:cs typeface="Times New Roman" panose="02020603050405020304" pitchFamily="18" charset="0"/>
              </a:rPr>
              <a:t>A.N. Sharma, R. Verma, and S. Kulkarni</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“AI-Based Detection of Wood Surface Damage Using Convolutional Neural Networks,”</a:t>
            </a:r>
            <a:r>
              <a:rPr lang="en-US" sz="2400" dirty="0">
                <a:latin typeface="Times New Roman" panose="02020603050405020304" pitchFamily="18" charset="0"/>
                <a:cs typeface="Times New Roman" panose="02020603050405020304" pitchFamily="18" charset="0"/>
              </a:rPr>
              <a:t> International Journal of Computer Vision and Image Processing, vol. 14, no. 2, pp. 45–53, 2023.</a:t>
            </a:r>
          </a:p>
          <a:p>
            <a:pPr>
              <a:lnSpc>
                <a:spcPct val="150000"/>
              </a:lnSpc>
            </a:pPr>
            <a:r>
              <a:rPr lang="en-IN" sz="24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Chen, L., &amp; Wu, Y.</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“Termite Soil Pattern Recognition Using Digital Image Processing Techniques,”</a:t>
            </a:r>
            <a:r>
              <a:rPr lang="en-US" sz="2400" dirty="0">
                <a:latin typeface="Times New Roman" panose="02020603050405020304" pitchFamily="18" charset="0"/>
                <a:cs typeface="Times New Roman" panose="02020603050405020304" pitchFamily="18" charset="0"/>
              </a:rPr>
              <a:t> Proceedings of the International Conference on Image Processing (ICIP), pp. 112–120, 2022.</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[3]</a:t>
            </a:r>
            <a:r>
              <a:rPr lang="en-US" sz="2400" b="1" dirty="0">
                <a:latin typeface="Times New Roman" panose="02020603050405020304" pitchFamily="18" charset="0"/>
                <a:cs typeface="Times New Roman" panose="02020603050405020304" pitchFamily="18" charset="0"/>
              </a:rPr>
              <a:t> K. Singh</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“Machine Learning Techniques for Automated Insect Damage Classification,”</a:t>
            </a:r>
            <a:r>
              <a:rPr lang="en-US" sz="2400" dirty="0">
                <a:latin typeface="Times New Roman" panose="02020603050405020304" pitchFamily="18" charset="0"/>
                <a:cs typeface="Times New Roman" panose="02020603050405020304" pitchFamily="18" charset="0"/>
              </a:rPr>
              <a:t> International Journal of Machine Learning Applications, vol. 9, no. 1, pp. 18–26, 2021.</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dirty="0"/>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11" name="object 11"/>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9" name="object 9"/>
          <p:cNvSpPr txBox="1"/>
          <p:nvPr/>
        </p:nvSpPr>
        <p:spPr>
          <a:xfrm>
            <a:off x="596402" y="5987760"/>
            <a:ext cx="1014779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pitchFamily="18" charset="0"/>
                <a:cs typeface="Times New Roman" panose="02020603050405020304" pitchFamily="18" charset="0"/>
              </a:rPr>
              <a:t>link</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0" dirty="0">
                <a:latin typeface="Times New Roman" panose="02020603050405020304" pitchFamily="18" charset="0"/>
                <a:cs typeface="Times New Roman" panose="02020603050405020304" pitchFamily="18" charset="0"/>
              </a:rPr>
              <a:t> </a:t>
            </a:r>
            <a:r>
              <a:rPr sz="1800" spc="-10" dirty="0" err="1">
                <a:latin typeface="Times New Roman" panose="02020603050405020304" pitchFamily="18" charset="0"/>
                <a:cs typeface="Times New Roman" panose="02020603050405020304" pitchFamily="18" charset="0"/>
              </a:rPr>
              <a:t>Github</a:t>
            </a:r>
            <a:r>
              <a:rPr lang="en-IN" sz="1800" spc="-10" dirty="0">
                <a:latin typeface="Times New Roman" panose="02020603050405020304" pitchFamily="18" charset="0"/>
                <a:cs typeface="Times New Roman" panose="02020603050405020304" pitchFamily="18" charset="0"/>
              </a:rPr>
              <a:t> : </a:t>
            </a:r>
            <a:r>
              <a:rPr lang="en-IN" sz="1800" spc="-10" dirty="0">
                <a:latin typeface="Times New Roman" panose="02020603050405020304" pitchFamily="18" charset="0"/>
                <a:cs typeface="Times New Roman" panose="02020603050405020304" pitchFamily="18" charset="0"/>
                <a:hlinkClick r:id="rId3"/>
              </a:rPr>
              <a:t>https://github.com/usharaniCT/CSE_2022-2026_BATCH-B10</a:t>
            </a:r>
            <a:endParaRPr sz="18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B04E85C9-3140-AB27-F091-8E00DF43D2C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23899" y="1095003"/>
            <a:ext cx="10466842" cy="4551040"/>
          </a:xfrm>
          <a:prstGeom prst="rect">
            <a:avLst/>
          </a:prstGeom>
        </p:spPr>
      </p:pic>
      <p:sp>
        <p:nvSpPr>
          <p:cNvPr id="4" name="TextBox 3">
            <a:extLst>
              <a:ext uri="{FF2B5EF4-FFF2-40B4-BE49-F238E27FC236}">
                <a16:creationId xmlns:a16="http://schemas.microsoft.com/office/drawing/2014/main" id="{D9584FAD-6AF4-A630-85F2-75C851F3DE43}"/>
              </a:ext>
            </a:extLst>
          </p:cNvPr>
          <p:cNvSpPr txBox="1"/>
          <p:nvPr/>
        </p:nvSpPr>
        <p:spPr>
          <a:xfrm>
            <a:off x="2808741" y="-62727"/>
            <a:ext cx="8382000" cy="307777"/>
          </a:xfrm>
          <a:prstGeom prst="rect">
            <a:avLst/>
          </a:prstGeom>
          <a:noFill/>
        </p:spPr>
        <p:txBody>
          <a:bodyPr wrap="square" rtlCol="0">
            <a:spAutoFit/>
          </a:bodyPr>
          <a:lstStyle/>
          <a:p>
            <a:r>
              <a:rPr lang="en-US" sz="1400" b="1" i="1" dirty="0">
                <a:solidFill>
                  <a:srgbClr val="FFFFFF"/>
                </a:solidFill>
                <a:latin typeface="Times New Roman"/>
                <a:cs typeface="Times New Roman"/>
              </a:rPr>
              <a:t>Insect Damage Detection in Household Surfaces Using AI-Based Image Processing</a:t>
            </a:r>
            <a:endParaRPr lang="en-IN"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dirty="0"/>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25" dirty="0"/>
              <a:t>B-10</a:t>
            </a:r>
            <a:endParaRPr spc="-25" dirty="0"/>
          </a:p>
        </p:txBody>
      </p:sp>
      <p:sp>
        <p:nvSpPr>
          <p:cNvPr id="6" name="object 6"/>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3" name="TextBox 2">
            <a:extLst>
              <a:ext uri="{FF2B5EF4-FFF2-40B4-BE49-F238E27FC236}">
                <a16:creationId xmlns:a16="http://schemas.microsoft.com/office/drawing/2014/main" id="{50FEDE63-3EC0-F8CD-8FAE-01B74F21799F}"/>
              </a:ext>
            </a:extLst>
          </p:cNvPr>
          <p:cNvSpPr txBox="1"/>
          <p:nvPr/>
        </p:nvSpPr>
        <p:spPr>
          <a:xfrm>
            <a:off x="3657600" y="1676400"/>
            <a:ext cx="8154797" cy="369332"/>
          </a:xfrm>
          <a:prstGeom prst="rect">
            <a:avLst/>
          </a:prstGeom>
          <a:noFill/>
        </p:spPr>
        <p:txBody>
          <a:bodyPr wrap="none" rtlCol="0">
            <a:spAutoFit/>
          </a:bodyPr>
          <a:lstStyle/>
          <a:p>
            <a:r>
              <a:rPr lang="en-US" sz="1800" b="1" i="1" dirty="0">
                <a:solidFill>
                  <a:srgbClr val="FFFFFF"/>
                </a:solidFill>
                <a:latin typeface="Times New Roman"/>
                <a:cs typeface="Times New Roman"/>
              </a:rPr>
              <a:t>Insect Damage Detection in Household Surfaces Using AI-Based Image Processing</a:t>
            </a:r>
            <a:endParaRPr lang="en-IN" dirty="0"/>
          </a:p>
        </p:txBody>
      </p:sp>
      <p:sp>
        <p:nvSpPr>
          <p:cNvPr id="9" name="TextBox 8">
            <a:extLst>
              <a:ext uri="{FF2B5EF4-FFF2-40B4-BE49-F238E27FC236}">
                <a16:creationId xmlns:a16="http://schemas.microsoft.com/office/drawing/2014/main" id="{BFE76395-A119-541C-9CE7-044709933DC1}"/>
              </a:ext>
            </a:extLst>
          </p:cNvPr>
          <p:cNvSpPr txBox="1"/>
          <p:nvPr/>
        </p:nvSpPr>
        <p:spPr>
          <a:xfrm>
            <a:off x="2727941" y="-37367"/>
            <a:ext cx="8839200" cy="307777"/>
          </a:xfrm>
          <a:prstGeom prst="rect">
            <a:avLst/>
          </a:prstGeom>
          <a:noFill/>
        </p:spPr>
        <p:txBody>
          <a:bodyPr wrap="square" rtlCol="0">
            <a:spAutoFit/>
          </a:bodyPr>
          <a:lstStyle/>
          <a:p>
            <a:r>
              <a:rPr lang="en-US" sz="1400" b="1" i="1" dirty="0">
                <a:solidFill>
                  <a:srgbClr val="FFFFFF"/>
                </a:solidFill>
                <a:latin typeface="Times New Roman"/>
                <a:cs typeface="Times New Roman"/>
              </a:rPr>
              <a:t>Insect Damage Detection in Household Surfaces Using AI-Based Image Processing</a:t>
            </a:r>
            <a:endParaRPr lang="en-IN"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493</TotalTime>
  <Words>1261</Words>
  <Application>Microsoft Office PowerPoint</Application>
  <PresentationFormat>Widescreen</PresentationFormat>
  <Paragraphs>138</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Calibri</vt:lpstr>
      <vt:lpstr>Times New Roman</vt:lpstr>
      <vt:lpstr>Office Theme</vt:lpstr>
      <vt:lpstr>INSECT DAMAGE DETECTION IN HOUSEHOLD SURFACES   USING AI-BASED IMAGE PROCESSING</vt:lpstr>
      <vt:lpstr>Contents</vt:lpstr>
      <vt:lpstr>Title Justification</vt:lpstr>
      <vt:lpstr> Abstract</vt:lpstr>
      <vt:lpstr>Problem Statement</vt:lpstr>
      <vt:lpstr>Objectives of Project</vt:lpstr>
      <vt:lpstr>Insect Damage Detection in Household Surfaces Using AI-Based Image Processing  </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Naveen</dc:creator>
  <cp:lastModifiedBy>Usha Rani</cp:lastModifiedBy>
  <cp:revision>9</cp:revision>
  <dcterms:created xsi:type="dcterms:W3CDTF">2025-12-02T11:29:58Z</dcterms:created>
  <dcterms:modified xsi:type="dcterms:W3CDTF">2025-12-18T16:22:26Z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Google</vt:lpwstr>
  </property>
  <property fmtid="{D5CDD505-2E9C-101B-9397-08002B2CF9AE}" pid="4" name="LastSaved">
    <vt:filetime>2025-12-02T00:00:00Z</vt:filetime>
  </property>
</Properties>
</file>